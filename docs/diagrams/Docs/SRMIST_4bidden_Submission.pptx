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1FAA02-C726-404C-A734-852F4E6308F2}">
  <a:tblStyle styleId="{831FAA02-C726-404C-A734-852F4E6308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10cce75fdabc3de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510cce75fdabc3de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h510cce75fdabc3de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5" name="Google Shape;1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Heytish-V/Samsung_Agentic_Code_Workflow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aHbZ65nckQzDYN5hGYeXnPlxu11OzRP1/view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77250" y="3310125"/>
            <a:ext cx="71955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-A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gentic Code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- 4bidden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-SRM Institute of Science and Technology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 Mithun Reddy my6506@srmist.edu.in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Podili Ayusana Durga Vashiti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ap8121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 Nived Krishna K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nk2347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Heytish V hs4676@srmist.edu.in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https://github.com/Heytish-V/Samsung_Agentic_Code_Workflow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1163850" y="1384125"/>
            <a:ext cx="10515600" cy="53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984"/>
              <a:t>Modern software repositories have numerous functions, classes, and interrelated modules. Manually searching for the particular part of code in question is quite a lengthy process.</a:t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4984"/>
              <a:t>Objective of our project</a:t>
            </a:r>
            <a:endParaRPr b="1"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984"/>
              <a:t>Construct a retrieval mechanism which will take as input the description of the required function and rank the top related code snippets from an available repository.</a:t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4984"/>
              <a:t>Challenges involved</a:t>
            </a:r>
            <a:endParaRPr b="1"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4984"/>
          </a:p>
          <a:p>
            <a:pPr indent="-3297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37"/>
              <a:buChar char="•"/>
            </a:pPr>
            <a:r>
              <a:rPr lang="en-US" sz="4984"/>
              <a:t>Semantic understanding may be different from keyword naming.</a:t>
            </a:r>
            <a:endParaRPr sz="4984"/>
          </a:p>
          <a:p>
            <a:pPr indent="-3297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37"/>
              <a:buChar char="•"/>
            </a:pPr>
            <a:r>
              <a:rPr lang="en-US" sz="4984"/>
              <a:t>The required code can be present in several files.</a:t>
            </a:r>
            <a:endParaRPr sz="4984"/>
          </a:p>
          <a:p>
            <a:pPr indent="-3297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37"/>
              <a:buChar char="•"/>
            </a:pPr>
            <a:r>
              <a:rPr lang="en-US" sz="4984"/>
              <a:t>Similar functions may appear in the search result misleadingly.</a:t>
            </a:r>
            <a:endParaRPr sz="4984"/>
          </a:p>
          <a:p>
            <a:pPr indent="-3297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37"/>
              <a:buChar char="•"/>
            </a:pPr>
            <a:r>
              <a:rPr lang="en-US" sz="4984"/>
              <a:t>Updating of the indexes because of code changes between versions.</a:t>
            </a:r>
            <a:endParaRPr sz="4984"/>
          </a:p>
          <a:p>
            <a:pPr indent="-3297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37"/>
              <a:buChar char="•"/>
            </a:pPr>
            <a:r>
              <a:rPr lang="en-US" sz="4984"/>
              <a:t>Running LLM on the whole codebase for every request would be inefficient.</a:t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4984"/>
              <a:t>Goal</a:t>
            </a:r>
            <a:r>
              <a:rPr lang="en-US" sz="4984"/>
              <a:t>: Precise and fast code retrieval with minimum use of GPU</a:t>
            </a:r>
            <a:endParaRPr sz="4984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200" y="1462425"/>
            <a:ext cx="9483300" cy="4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AutoNum type="arabicPeriod"/>
            </a:pPr>
            <a:r>
              <a:rPr b="1" lang="en-US" sz="2680"/>
              <a:t>Keyword Search</a:t>
            </a:r>
            <a:r>
              <a:rPr lang="en-US" sz="2680"/>
              <a:t>:- Matches exact words and identifiers but may miss semantically related code with different naming.</a:t>
            </a:r>
            <a:endParaRPr sz="2680"/>
          </a:p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AutoNum type="arabicPeriod"/>
            </a:pPr>
            <a:r>
              <a:rPr b="1" lang="en-US" sz="2680"/>
              <a:t>Dense Semantic Search</a:t>
            </a:r>
            <a:r>
              <a:rPr lang="en-US" sz="2680"/>
              <a:t>:- Returns conceptually close functions but might give results that are semantically close yet structurally unconnected to the desired functionality.</a:t>
            </a:r>
            <a:endParaRPr sz="2680"/>
          </a:p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AutoNum type="arabicPeriod"/>
            </a:pPr>
            <a:r>
              <a:rPr b="1" lang="en-US" sz="2680"/>
              <a:t>LLM-Only Code Analysis</a:t>
            </a:r>
            <a:r>
              <a:rPr lang="en-US" sz="2680"/>
              <a:t> :- Sending a whole repository to the LLM might be inefficient because of the time taken and limited context window size.</a:t>
            </a:r>
            <a:endParaRPr sz="26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US" sz="2680"/>
              <a:t>Our target:Creating a retrieval system which integrates lexical match, semantic match, and structural context to return relevant code snippets.</a:t>
            </a:r>
            <a:endParaRPr sz="26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54700" y="1384125"/>
            <a:ext cx="4744200" cy="5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-US"/>
              <a:t>Explanation for the Diagram</a:t>
            </a:r>
            <a:endParaRPr b="1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Parsing and chunking using AST preserve code structure</a:t>
            </a:r>
            <a:r>
              <a:rPr lang="en-US"/>
              <a:t>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Semantic similarity can be achieved by dense retrieval.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BM25 will find lexical and identifier matches.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Hybrid ranking will integrate complementary search features.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Structural analysis will provide call-graph information to help explore code.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300" y="1744474"/>
            <a:ext cx="6388300" cy="36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121" name="Google Shape;121;p18" title="SamsungPrism0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875" y="1211925"/>
            <a:ext cx="9293333" cy="52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9165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1954575" y="111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{831FAA02-C726-404C-A734-852F4E6308F2}</a:tableStyleId>
              </a:tblPr>
              <a:tblGrid>
                <a:gridCol w="3314175"/>
                <a:gridCol w="5506825"/>
              </a:tblGrid>
              <a:tr h="43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Layer </a:t>
                      </a:r>
                      <a:endParaRPr b="1"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Technology </a:t>
                      </a:r>
                      <a:endParaRPr b="1" sz="2500"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Programming language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Python,JavaScript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Parsing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Tree-sitter / AST parsing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Embeddings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Sentence Transformers, BGE-small-en-v1.5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Vector search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FAISS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Lexical search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BM25Okapi, rank-bm25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Structural analysis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NetworkX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Backend API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FastAPI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Frontend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React, Vite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Code viewer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Monaco Code Viewer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Version control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Git, Github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Evaluation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MTEB, CoIR AppsRetrieval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394575" y="1493750"/>
            <a:ext cx="4806900" cy="47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users:-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developers dealing with unknown codebases.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 debugging issues that occur within several modules.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Groups of people maintaining large and constantly evolving codebases.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contributors to existing software projects.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6031275" y="1337175"/>
            <a:ext cx="6012600" cy="47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applications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Bug Debugging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functions and modules corresponding to the observed behavior.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relations between functions and modules.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 Onboarding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where crucial functionality lies.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Maintenance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implementation details of interest as the codebase evolves.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268225" y="1211900"/>
            <a:ext cx="4759800" cy="5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to recognize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quality is dependent on parsing, chunking, embedding quality, and ranking.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functionalities might be hard to differentiate.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analysis may not be complete in case of dynamic call or language complexities.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version-based retrieval should be validated using different repository versions.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and performance of retrieval need formal benchmark measurements.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63250" y="1211900"/>
            <a:ext cx="5214000" cy="54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 summary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retrieval: Fusion of dense semantic retrieval with sparse lexical retrieval.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awareness: Leverages parsed code structure and call graph dependencies for result exploration.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Repository-level retrieval: Queries indexed code chunks instead of submitting the whole codebase to the LLM.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exploration: Binds ranked results with source code inspection and architecture visualization.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CPU-friendly retrieval: Utilizes efficient embedding and retrieval components according to the theme’s resource requirements.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</a:rPr>
              <a:t>Results</a:t>
            </a:r>
            <a:endParaRPr>
              <a:solidFill>
                <a:srgbClr val="6D28D9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838200" y="1620325"/>
            <a:ext cx="4775700" cy="3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Performance Summary</a:t>
            </a:r>
            <a:endParaRPr b="1" sz="28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Median Query Latency </a:t>
            </a:r>
            <a:r>
              <a:rPr b="1" lang="en-US" sz="2200">
                <a:solidFill>
                  <a:schemeClr val="dk1"/>
                </a:solidFill>
              </a:rPr>
              <a:t>44 ms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Initial Indexing Time </a:t>
            </a:r>
            <a:r>
              <a:rPr b="1" lang="en-US" sz="2200">
                <a:solidFill>
                  <a:schemeClr val="dk1"/>
                </a:solidFill>
              </a:rPr>
              <a:t>1.8 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Code Chunks Indexed </a:t>
            </a:r>
            <a:r>
              <a:rPr b="1" lang="en-US" sz="2200">
                <a:solidFill>
                  <a:schemeClr val="dk1"/>
                </a:solidFill>
              </a:rPr>
              <a:t>51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P95 Query Latency </a:t>
            </a:r>
            <a:r>
              <a:rPr b="1" lang="en-US" sz="2200">
                <a:solidFill>
                  <a:schemeClr val="dk1"/>
                </a:solidFill>
              </a:rPr>
              <a:t>77 ms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5874725" y="1690825"/>
            <a:ext cx="55587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Retrieval evaluation</a:t>
            </a:r>
            <a:endParaRPr b="1" sz="28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Pipeline MRR@5 · 10 representative queries  </a:t>
            </a:r>
            <a:r>
              <a:rPr b="1" lang="en-US" sz="2200">
                <a:solidFill>
                  <a:schemeClr val="dk1"/>
                </a:solidFill>
              </a:rPr>
              <a:t>0.800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BGE-small published NDCG@10 benchmark  </a:t>
            </a:r>
            <a:r>
              <a:rPr b="1" lang="en-US" sz="2200">
                <a:solidFill>
                  <a:schemeClr val="dk1"/>
                </a:solidFill>
              </a:rPr>
              <a:t>0.5842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Current</a:t>
            </a:r>
            <a:r>
              <a:rPr lang="en-US"/>
              <a:t>:-</a:t>
            </a:r>
            <a:r>
              <a:rPr lang="en-US"/>
              <a:t>Core Retrieval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Code parsing, chunking, dense and sparse indexing, hybrid search, and interactive results exploration.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Next</a:t>
            </a:r>
            <a:r>
              <a:rPr lang="en-US"/>
              <a:t>:-Optimizing Retrieval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Fine-tune chunking, query preprocessing, candidate merging, reranking, and benchmark performance.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Future</a:t>
            </a:r>
            <a:r>
              <a:rPr lang="en-US"/>
              <a:t>:-Version-Aware Code Intelligence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Enhance index updates, retrieve relevant code from version history, and differentiate between similar fragments that change over commits.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603350" y="1380925"/>
            <a:ext cx="9373800" cy="4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Multiple Retrieval Triggers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Highly dense semantic similarity and BM25 lexical relevance work well together.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Awareness of the Code Structure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The call-graph context will aid developers in navigating away from the first retrieval snippet.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Modular Retrieval Workflow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Parsing, indexing, retrieval, ranking, back-end APIs, and the UI can all be independently developed and tested.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Measurable Performance</a:t>
            </a:r>
            <a:endParaRPr sz="206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0"/>
              <a:buChar char="•"/>
            </a:pPr>
            <a:r>
              <a:rPr lang="en-US" sz="2060"/>
              <a:t>Use NDCG@10 and MRR to measure retrieval performance and separately report latency and indexing overheads.</a:t>
            </a:r>
            <a:endParaRPr sz="226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